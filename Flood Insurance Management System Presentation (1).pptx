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</ns0:embeddedFont>
    <ns0:embeddedFont>
      <ns0:font typeface="Inter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2ce88547-0401-4bbf-b19a-79599e8e0dab.fntdata" /><ns0:Relationship Id="rIdFont21" Type="http://schemas.openxmlformats.org/officeDocument/2006/relationships/font" Target="fonts/35673790-7e94-4ed3-9bf3-ec6934928e62.fntdata" /><ns0:Relationship Id="rIdFont22" Type="http://schemas.openxmlformats.org/officeDocument/2006/relationships/font" Target="fonts/ac8110f1-9035-4e6f-9734-ef02aba2931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629275"/>
            <a:ext cx="106680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629275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633412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39275" y="628650"/>
            <a:ext cx="24884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Architecture Technical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968847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ENTERPRISE MICROSERVICES ARCHITECTURE &amp; MODERNIZATION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83172"/>
            <a:ext cx="970121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Flood Insurance Management System (FIMS)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12802"/>
            <a:ext cx="7334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 scalable, distributed flood risk assessment and policy lifecycle platform powered by Angular, Ocelot API Gateway, ASP.NET Core Microservices, and JWT Authentication.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609600"/>
            <a:ext cx="3048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THE HARTFORD CAPSTONE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867400"/>
            <a:ext cx="23812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LEAD SOLUTIONS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048375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Nanda Kishore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8675" y="5867400"/>
            <a:ext cx="4572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ACADEMIC &amp; TECHNICAL MENTORS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8675" y="6048375"/>
            <a:ext cx="4572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Ranjan Bhatnagar &amp; Sanjeeva Reddy Alamuri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7950" y="5867400"/>
            <a:ext cx="1452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67950" y="6048375"/>
            <a:ext cx="1452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53725" y="609600"/>
            <a:ext cx="828675" cy="27622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52029"/>
            <a:ext cx="5334000" cy="3839765"/>
          </a:xfrm>
          <a:prstGeom prst="roundRect">
            <a:avLst>
              <a:gd name="adj" fmla="val 19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952029"/>
            <a:ext cx="5334000" cy="3839765"/>
          </a:xfrm>
          <a:prstGeom prst="roundRect">
            <a:avLst>
              <a:gd name="adj" fmla="val 19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952029"/>
            <a:ext cx="47625" cy="3839765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400" y="1952029"/>
            <a:ext cx="47625" cy="3839765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275879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275879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06125" y="666750"/>
            <a:ext cx="6191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740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41230"/>
                </a:solidFill>
                <a:latin typeface="Inter"/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7225"/>
            <a:ext cx="777597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2855"/>
                </a:solidFill>
                <a:latin typeface="Plus Jakarta Sans"/>
              </a:rPr>
              <a:t>Business Challenge &amp; Strategic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4925" y="2256829"/>
            <a:ext cx="411301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C41230"/>
                </a:solidFill>
                <a:latin typeface="Plus Jakarta Sans"/>
              </a:rPr>
              <a:t>Legacy Monolithic Bottlenecks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2675929"/>
            <a:ext cx="4772025" cy="617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Tightly Coupled Domains: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Shared databases causing deployment risks between policy and claims.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407271"/>
            <a:ext cx="4772025" cy="617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Manual Underwriting: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Slow quote generation and lack of automated flood risk logic.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138612"/>
            <a:ext cx="4772025" cy="617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Orphaned Account Risks: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Inconsistent identity linking across disparate legacy modules.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869953"/>
            <a:ext cx="4772025" cy="617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Rigid Security Boundaries: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Monolithic authorization lacking fine-grained RBAC controls.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3725" y="2256829"/>
            <a:ext cx="436304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02855"/>
                </a:solidFill>
                <a:latin typeface="Plus Jakarta Sans"/>
              </a:rPr>
              <a:t>Strategic Microservices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2675929"/>
            <a:ext cx="4772025" cy="617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Autonomous Domains: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Customer/Property, Policy/Underwriting, and Claim Services.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3407271"/>
            <a:ext cx="4772025" cy="617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Automated Underwriting: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Real-time rules engine for instant quote vs manual review split.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825" y="4138612"/>
            <a:ext cx="4772025" cy="617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Centralized Gateway: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Ocelot API Gateway routing with strict JWT security and CORS policies.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825" y="4869953"/>
            <a:ext cx="4772025" cy="617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Decoupled Frontend: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Modern Angular Single Page Application with Signal-based state.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53725" y="609600"/>
            <a:ext cx="828675" cy="2762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90787"/>
            <a:ext cx="3505200" cy="2762250"/>
          </a:xfrm>
          <a:prstGeom prst="roundRect">
            <a:avLst>
              <a:gd name="adj" fmla="val 4137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490787"/>
            <a:ext cx="3505200" cy="2762250"/>
          </a:xfrm>
          <a:prstGeom prst="roundRect">
            <a:avLst>
              <a:gd name="adj" fmla="val 4137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490787"/>
            <a:ext cx="3505200" cy="2762250"/>
          </a:xfrm>
          <a:prstGeom prst="roundRect">
            <a:avLst>
              <a:gd name="adj" fmla="val 4137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670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7670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76701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937" y="2890837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2890837"/>
            <a:ext cx="26670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1062" y="2890837"/>
            <a:ext cx="16192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06125" y="666750"/>
            <a:ext cx="6191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57200"/>
            <a:ext cx="6060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41230"/>
                </a:solidFill>
                <a:latin typeface="Inter"/>
              </a:rPr>
              <a:t>PLATFORM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57225"/>
            <a:ext cx="636329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2855"/>
                </a:solidFill>
                <a:latin typeface="Plus Jakarta Sans"/>
              </a:rPr>
              <a:t>Functional Scope &amp; RBAC Matrix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376612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Customer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690937"/>
            <a:ext cx="30480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Self-service portal for property registration, risk assessment evaluation, quote acceptance, policy binding, and claim submissions.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376612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Admin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3690937"/>
            <a:ext cx="3048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Policy search across criteria, high-risk manual underwriting review, policy override issuance, and adjuster claim assignment.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376612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ClaimManager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3690937"/>
            <a:ext cx="30480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Operational management of assigned claims, site loss verification, claim approvals, rejection processing, and payout settlements.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53725" y="609600"/>
            <a:ext cx="828675" cy="27622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47962"/>
            <a:ext cx="2600325" cy="22098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747962"/>
            <a:ext cx="2600325" cy="22098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747962"/>
            <a:ext cx="2600325" cy="22098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747962"/>
            <a:ext cx="2600325" cy="22098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06125" y="666750"/>
            <a:ext cx="6191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7417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41230"/>
                </a:solidFill>
                <a:latin typeface="Inter"/>
              </a:rPr>
              <a:t>TECHNICAL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7225"/>
            <a:ext cx="778847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2855"/>
                </a:solidFill>
                <a:latin typeface="Plus Jakarta Sans"/>
              </a:rPr>
              <a:t>Technology Stack &amp; Technical Footprint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986087"/>
            <a:ext cx="278784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41230"/>
                </a:solidFill>
                <a:latin typeface="Inter"/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252787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Angular Standalone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67112"/>
            <a:ext cx="2219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Signal state management, Reactive Forms, Route Guards, and HttpClient interceptors.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2986087"/>
            <a:ext cx="278784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41230"/>
                </a:solidFill>
                <a:latin typeface="Inter"/>
              </a:rPr>
              <a:t>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252787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Ocelot 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567112"/>
            <a:ext cx="2219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Centralized reverse proxy routing, CORS policy, downstream dispatch, and rate limiting.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986087"/>
            <a:ext cx="278784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41230"/>
                </a:solidFill>
                <a:latin typeface="Inter"/>
              </a:rPr>
              <a:t>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252787"/>
            <a:ext cx="2330291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ASP.NET Core Web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805237"/>
            <a:ext cx="2219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Clean Architecture, Repository Pattern, Dependency Injection, and EF Core persistence.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2986087"/>
            <a:ext cx="278784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41230"/>
                </a:solidFill>
                <a:latin typeface="Inter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3252787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JWT &amp; Middleware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0200" y="3567112"/>
            <a:ext cx="2219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Stateless Bearer token validation, RBAC policy guards, and global exception handling.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665386"/>
            <a:ext cx="11125200" cy="638175"/>
          </a:xfrm>
          <a:prstGeom prst="roundRect">
            <a:avLst>
              <a:gd name="adj" fmla="val 14925"/>
            </a:avLst>
          </a:prstGeom>
          <a:solidFill>
            <a:srgbClr val="F4F6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6219527"/>
            <a:ext cx="11125200" cy="295275"/>
          </a:xfrm>
          <a:prstGeom prst="roundRect">
            <a:avLst>
              <a:gd name="adj" fmla="val 25806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825" y="1865411"/>
            <a:ext cx="1809750" cy="238125"/>
          </a:xfrm>
          <a:prstGeom prst="roundRect">
            <a:avLst>
              <a:gd name="adj" fmla="val 24000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2968823"/>
            <a:ext cx="4626024" cy="628650"/>
          </a:xfrm>
          <a:prstGeom prst="roundRect">
            <a:avLst>
              <a:gd name="adj" fmla="val 15151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11824" y="2968823"/>
            <a:ext cx="6346775" cy="628650"/>
          </a:xfrm>
          <a:prstGeom prst="roundRect">
            <a:avLst>
              <a:gd name="adj" fmla="val 1515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3400" y="4262735"/>
            <a:ext cx="3606849" cy="1291530"/>
          </a:xfrm>
          <a:prstGeom prst="roundRect">
            <a:avLst>
              <a:gd name="adj" fmla="val 7374"/>
            </a:avLst>
          </a:prstGeom>
          <a:solidFill>
            <a:srgbClr val="F4F6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2649" y="4262735"/>
            <a:ext cx="3606849" cy="1291530"/>
          </a:xfrm>
          <a:prstGeom prst="roundRect">
            <a:avLst>
              <a:gd name="adj" fmla="val 7374"/>
            </a:avLst>
          </a:prstGeom>
          <a:solidFill>
            <a:srgbClr val="F4F6F9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51899" y="4262735"/>
            <a:ext cx="3606849" cy="1291530"/>
          </a:xfrm>
          <a:prstGeom prst="roundRect">
            <a:avLst>
              <a:gd name="adj" fmla="val 7374"/>
            </a:avLst>
          </a:prstGeom>
          <a:solidFill>
            <a:srgbClr val="F4F6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24925" y="485775"/>
            <a:ext cx="1943100" cy="2381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82325" y="495300"/>
            <a:ext cx="676275" cy="21907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7375" y="1865411"/>
            <a:ext cx="1238250" cy="23812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19925" y="1865411"/>
            <a:ext cx="1209675" cy="23812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43900" y="1865411"/>
            <a:ext cx="1219200" cy="23812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275" y="5135165"/>
            <a:ext cx="3321099" cy="276225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35524" y="5135165"/>
            <a:ext cx="3321099" cy="276225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4774" y="5135165"/>
            <a:ext cx="3321099" cy="276225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95525" y="3132683"/>
            <a:ext cx="628650" cy="133350"/>
          </a:xfrm>
          <a:prstGeom prst="roundRect">
            <a:avLst>
              <a:gd name="adj" fmla="val 28571"/>
            </a:avLst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3049" y="3132683"/>
            <a:ext cx="657225" cy="133350"/>
          </a:xfrm>
          <a:prstGeom prst="roundRect">
            <a:avLst>
              <a:gd name="adj" fmla="val 28571"/>
            </a:avLst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813024"/>
            <a:ext cx="342900" cy="3429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3092648"/>
            <a:ext cx="381000" cy="381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49" y="3092648"/>
            <a:ext cx="381000" cy="381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875" y="6314777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026" y="6314777"/>
            <a:ext cx="114300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6426" y="6314777"/>
            <a:ext cx="114300" cy="1143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0" y="552450"/>
            <a:ext cx="133350" cy="1143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1908274"/>
            <a:ext cx="17145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2150" y="1932086"/>
            <a:ext cx="104775" cy="1143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4700" y="1932086"/>
            <a:ext cx="142875" cy="1143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8675" y="1932086"/>
            <a:ext cx="142875" cy="1143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197423"/>
            <a:ext cx="17145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54712" y="3197423"/>
            <a:ext cx="219075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25924" y="4405610"/>
            <a:ext cx="17145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1050" y="5220890"/>
            <a:ext cx="104775" cy="1143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42324" y="4405610"/>
            <a:ext cx="1143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40299" y="5220890"/>
            <a:ext cx="104775" cy="1143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44423" y="4405610"/>
            <a:ext cx="171450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99549" y="5220890"/>
            <a:ext cx="104775" cy="1143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3400" y="342900"/>
            <a:ext cx="51054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41230"/>
                </a:solidFill>
                <a:latin typeface="Inter"/>
              </a:rPr>
              <a:t>Centralpiece Visual Blueprint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3125" y="1903511"/>
            <a:ext cx="1676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Signals &amp; HTTP Interceptors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77875" y="6295727"/>
            <a:ext cx="1833562" cy="14287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Zero Database Sharing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9026" y="6295727"/>
            <a:ext cx="2428875" cy="14287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API-Mediated Identity 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56426" y="6295727"/>
            <a:ext cx="2571750" cy="14287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Inter"/>
              </a:rPr>
              <a:t>Centralized Exception Middleware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400" y="552450"/>
            <a:ext cx="6575821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02855"/>
                </a:solidFill>
                <a:latin typeface="Plus Jakarta Sans"/>
              </a:rPr>
              <a:t>High-Level System Architecture Diagram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9225" y="523875"/>
            <a:ext cx="1809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02855"/>
                </a:solidFill>
                <a:latin typeface="Inter"/>
              </a:rPr>
              <a:t>4-Tier Decoupled Platform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6625" y="533400"/>
            <a:ext cx="5429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Slide 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90625" y="1789211"/>
            <a:ext cx="4486275" cy="390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41230"/>
                </a:solidFill>
                <a:latin typeface="Inter"/>
              </a:rPr>
              <a:t>Client 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2625" y="1903511"/>
            <a:ext cx="1143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02855"/>
                </a:solidFill>
                <a:latin typeface="Inter"/>
              </a:rPr>
              <a:t>Customer Portal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15175" y="1903511"/>
            <a:ext cx="11144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02855"/>
                </a:solidFill>
                <a:latin typeface="Inter"/>
              </a:rPr>
              <a:t>Admin Console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9150" y="1903511"/>
            <a:ext cx="1123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02855"/>
                </a:solidFill>
                <a:latin typeface="Inter"/>
              </a:rPr>
              <a:t>Claim Manager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90625" y="1979711"/>
            <a:ext cx="576322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2855"/>
                </a:solidFill>
                <a:latin typeface="Plus Jakarta Sans"/>
              </a:rPr>
              <a:t>Angular Single Page Application (Standalone Architecture)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09675" y="3308895"/>
            <a:ext cx="4702968" cy="1485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Registration/Login, JWT Bearer Issuance &amp; Customer Account Linking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8099" y="3308895"/>
            <a:ext cx="5286375" cy="1485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Reverse Proxy Route Dispatch, CORS Policy, Rate Limiting &amp; RBAC Verification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275" y="4634210"/>
            <a:ext cx="43589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2855"/>
                </a:solidFill>
                <a:latin typeface="Plus Jakarta Sans"/>
              </a:rPr>
              <a:t>Customer &amp; Property Service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275" y="4872335"/>
            <a:ext cx="4151374" cy="1485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Profiles, Address Validation, &amp; Property Characteristics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1050" y="5201840"/>
            <a:ext cx="1238250" cy="142875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02855"/>
                </a:solidFill>
                <a:latin typeface="Inter"/>
              </a:rPr>
              <a:t>Customer_DB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21049" y="5216128"/>
            <a:ext cx="1257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64748B"/>
                </a:solidFill>
                <a:latin typeface="Inter"/>
              </a:rPr>
              <a:t>Isolated Persistence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5524" y="4634210"/>
            <a:ext cx="43589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2855"/>
                </a:solidFill>
                <a:latin typeface="Plus Jakarta Sans"/>
              </a:rPr>
              <a:t>Policy &amp; Underwriting Service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5524" y="4872335"/>
            <a:ext cx="4151374" cy="1485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Risk Assessment, Rules Engine, Quotes &amp; Active Policies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40299" y="5201840"/>
            <a:ext cx="1019175" cy="142875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41230"/>
                </a:solidFill>
                <a:latin typeface="Inter"/>
              </a:rPr>
              <a:t>Policy_DB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80299" y="5216128"/>
            <a:ext cx="1257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64748B"/>
                </a:solidFill>
                <a:latin typeface="Inter"/>
              </a:rPr>
              <a:t>Isolated Persistence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94774" y="4634210"/>
            <a:ext cx="3997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2855"/>
                </a:solidFill>
                <a:latin typeface="Plus Jakarta Sans"/>
              </a:rPr>
              <a:t>Claim Management Service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4774" y="4872335"/>
            <a:ext cx="3997225" cy="1485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Loss Reporting, Adjuster Assignment, &amp; Payout Settlements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99549" y="5201840"/>
            <a:ext cx="1009650" cy="142875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Inter"/>
              </a:rPr>
              <a:t>Claim_DB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39548" y="5216128"/>
            <a:ext cx="1257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64748B"/>
                </a:solidFill>
                <a:latin typeface="Inter"/>
              </a:rPr>
              <a:t>Isolated Persistence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09675" y="3108870"/>
            <a:ext cx="136017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2855"/>
                </a:solidFill>
                <a:latin typeface="Plus Jakarta Sans"/>
              </a:rPr>
              <a:t>Auth Gateway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52675" y="3142208"/>
            <a:ext cx="8001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FFFFFF"/>
                </a:solidFill>
                <a:latin typeface="Inter"/>
              </a:rPr>
              <a:t>PORT 5001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88099" y="3108870"/>
            <a:ext cx="187523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02855"/>
                </a:solidFill>
                <a:latin typeface="Plus Jakarta Sans"/>
              </a:rPr>
              <a:t>Ocelot API Gateway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50199" y="3142208"/>
            <a:ext cx="82867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FFFFFF"/>
                </a:solidFill>
                <a:latin typeface="Inter"/>
              </a:rPr>
              <a:t>PORT 5000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275" y="4415135"/>
            <a:ext cx="12287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02855"/>
                </a:solidFill>
                <a:latin typeface="Inter"/>
              </a:rPr>
              <a:t>IDENTITY DOMAIN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35524" y="4415135"/>
            <a:ext cx="10858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41230"/>
                </a:solidFill>
                <a:latin typeface="Inter"/>
              </a:rPr>
              <a:t>POLICY ENGINE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94774" y="4415135"/>
            <a:ext cx="127635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59669"/>
                </a:solidFill>
                <a:latin typeface="Inter"/>
              </a:rPr>
              <a:t>CLAIMS LIFECYCLE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53725" y="609600"/>
            <a:ext cx="828675" cy="27622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38400"/>
            <a:ext cx="2628900" cy="1400175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38100">
            <a:solidFill>
              <a:srgbClr val="00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438400"/>
            <a:ext cx="2628900" cy="38100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390900" y="2438400"/>
            <a:ext cx="2628900" cy="1400175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38100">
            <a:solidFill>
              <a:srgbClr val="00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90900" y="2438400"/>
            <a:ext cx="2628900" cy="38100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2438400"/>
            <a:ext cx="2628900" cy="1400175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38100">
            <a:solidFill>
              <a:srgbClr val="00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2438400"/>
            <a:ext cx="2628900" cy="38100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53500" y="2438400"/>
            <a:ext cx="2628900" cy="1400175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38100">
            <a:solidFill>
              <a:srgbClr val="002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53500" y="2438400"/>
            <a:ext cx="2628900" cy="38100"/>
          </a:xfrm>
          <a:prstGeom prst="rect">
            <a:avLst/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600" y="4029075"/>
            <a:ext cx="26289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3810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029075"/>
            <a:ext cx="2628900" cy="381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90900" y="4029075"/>
            <a:ext cx="26289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3810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0" y="4029075"/>
            <a:ext cx="2628900" cy="381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4029075"/>
            <a:ext cx="26289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3810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029075"/>
            <a:ext cx="2628900" cy="381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53500" y="4029075"/>
            <a:ext cx="262890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3810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53500" y="4029075"/>
            <a:ext cx="2628900" cy="381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06125" y="666750"/>
            <a:ext cx="6191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57200"/>
            <a:ext cx="7024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41230"/>
                </a:solidFill>
                <a:latin typeface="Inter"/>
              </a:rPr>
              <a:t>POLICY ONBOARDING LIFECYCLE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7225"/>
            <a:ext cx="737592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2855"/>
                </a:solidFill>
                <a:latin typeface="Plus Jakarta Sans"/>
              </a:rPr>
              <a:t>Flow 1: Registration to Policy Creation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2628900"/>
            <a:ext cx="2343150" cy="1019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41230"/>
                </a:solidFill>
                <a:latin typeface="Inter"/>
              </a:rPr>
              <a:t>STEP 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1400" y="2628900"/>
            <a:ext cx="2343150" cy="1019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41230"/>
                </a:solidFill>
                <a:latin typeface="Inter"/>
              </a:rPr>
              <a:t>STEP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2700" y="2628900"/>
            <a:ext cx="2343150" cy="1019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41230"/>
                </a:solidFill>
                <a:latin typeface="Inter"/>
              </a:rPr>
              <a:t>STEP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628900"/>
            <a:ext cx="2343150" cy="1019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41230"/>
                </a:solidFill>
                <a:latin typeface="Inter"/>
              </a:rPr>
              <a:t>STEP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" y="4219575"/>
            <a:ext cx="23431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41230"/>
                </a:solidFill>
                <a:latin typeface="Inter"/>
              </a:rPr>
              <a:t>STEP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1400" y="4219575"/>
            <a:ext cx="23431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41230"/>
                </a:solidFill>
                <a:latin typeface="Inter"/>
              </a:rPr>
              <a:t>STEP 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4219575"/>
            <a:ext cx="23431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41230"/>
                </a:solidFill>
                <a:latin typeface="Inter"/>
              </a:rPr>
              <a:t>STEP 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219575"/>
            <a:ext cx="23431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41230"/>
                </a:solidFill>
                <a:latin typeface="Inter"/>
              </a:rPr>
              <a:t>STEP 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2914650"/>
            <a:ext cx="29503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02855"/>
                </a:solidFill>
                <a:latin typeface="Plus Jakarta Sans"/>
              </a:rPr>
              <a:t>User Registration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" y="3162300"/>
            <a:ext cx="23431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Customer registers via Auth Gateway; JWT issued with CustomerId.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1400" y="2914650"/>
            <a:ext cx="29503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02855"/>
                </a:solidFill>
                <a:latin typeface="Plus Jakarta Sans"/>
              </a:rPr>
              <a:t>Property Setup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1400" y="3162300"/>
            <a:ext cx="23431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Registers property specs &amp; address in Customer &amp; Property Service.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2700" y="2914650"/>
            <a:ext cx="29503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02855"/>
                </a:solidFill>
                <a:latin typeface="Plus Jakarta Sans"/>
              </a:rPr>
              <a:t>Product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2700" y="3162300"/>
            <a:ext cx="23431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Browses flood coverage products in Policy Service catalog.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914650"/>
            <a:ext cx="29503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02855"/>
                </a:solidFill>
                <a:latin typeface="Plus Jakarta Sans"/>
              </a:rPr>
              <a:t>Risk 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162300"/>
            <a:ext cx="23431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Triggers elevation &amp; zone assessment to compute Risk Score.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" y="4505325"/>
            <a:ext cx="29503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02855"/>
                </a:solidFill>
                <a:latin typeface="Plus Jakarta Sans"/>
              </a:rPr>
              <a:t>Underwriting Rule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" y="4752975"/>
            <a:ext cx="23431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Auto-evaluates risk; routes to Eligible vs PendingReview.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1400" y="4505325"/>
            <a:ext cx="29503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02855"/>
                </a:solidFill>
                <a:latin typeface="Plus Jakarta Sans"/>
              </a:rPr>
              <a:t>Quote Generation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1400" y="4752975"/>
            <a:ext cx="23431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Premium calculated; system presents formal quote proposal.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2700" y="4505325"/>
            <a:ext cx="29503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02855"/>
                </a:solidFill>
                <a:latin typeface="Plus Jakarta Sans"/>
              </a:rPr>
              <a:t>Customer Acceptance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2700" y="4752975"/>
            <a:ext cx="23431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Customer reviews terms, signs disclosure, &amp; accepts quote.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505325"/>
            <a:ext cx="29503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02855"/>
                </a:solidFill>
                <a:latin typeface="Plus Jakarta Sans"/>
              </a:rPr>
              <a:t>Policy Issuance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752975"/>
            <a:ext cx="23431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Active Policy bound and stored in Policy_DB with start 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63250" y="609600"/>
            <a:ext cx="819150" cy="2762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67037"/>
            <a:ext cx="2057400" cy="180975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38450" y="2967037"/>
            <a:ext cx="2057400" cy="180975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67300" y="2967037"/>
            <a:ext cx="2057400" cy="180975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96150" y="2967037"/>
            <a:ext cx="2057400" cy="180975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25000" y="2967037"/>
            <a:ext cx="2057400" cy="1809750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575" y="32051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9425" y="32051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02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48275" y="32051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77125" y="32051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05975" y="3205162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15650" y="666750"/>
            <a:ext cx="609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6869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41230"/>
                </a:solidFill>
                <a:latin typeface="Inter"/>
              </a:rPr>
              <a:t>CLAIMS OPERATIONS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57225"/>
            <a:ext cx="721340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2855"/>
                </a:solidFill>
                <a:latin typeface="Plus Jakarta Sans"/>
              </a:rPr>
              <a:t>Flow 2: Claim Creation to Settlement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32051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3662362"/>
            <a:ext cx="22252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2855"/>
                </a:solidFill>
                <a:latin typeface="Plus Jakarta Sans"/>
              </a:rPr>
              <a:t>Loss Incident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3938587"/>
            <a:ext cx="17907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Flood damage event occurs at registered customer property.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6550" y="32051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9425" y="3662362"/>
            <a:ext cx="22252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2855"/>
                </a:solidFill>
                <a:latin typeface="Plus Jakarta Sans"/>
              </a:rPr>
              <a:t>FNOL Submission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9425" y="3938587"/>
            <a:ext cx="17907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Customer files First Notice of Loss in Claim Service.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5400" y="32051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275" y="3662362"/>
            <a:ext cx="22252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2855"/>
                </a:solidFill>
                <a:latin typeface="Plus Jakarta Sans"/>
              </a:rPr>
              <a:t>Admin Assignment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275" y="3938587"/>
            <a:ext cx="17907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Admin reviews claim and assigns to a ClaimManager.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50" y="32051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7125" y="3662362"/>
            <a:ext cx="22252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2855"/>
                </a:solidFill>
                <a:latin typeface="Plus Jakarta Sans"/>
              </a:rPr>
              <a:t>Loss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7125" y="3938587"/>
            <a:ext cx="17907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ClaimManager verifies field estimate &amp; coverage limits.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3100" y="32051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5975" y="3662362"/>
            <a:ext cx="22252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2855"/>
                </a:solidFill>
                <a:latin typeface="Plus Jakarta Sans"/>
              </a:rPr>
              <a:t>Approval / Payout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5975" y="3938587"/>
            <a:ext cx="17907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Claim approved, financial settlement issued, &amp; case closed.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53725" y="609600"/>
            <a:ext cx="828675" cy="27622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19412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919412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919412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06125" y="666750"/>
            <a:ext cx="6191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6929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41230"/>
                </a:solidFill>
                <a:latin typeface="Inter"/>
              </a:rPr>
              <a:t>DOMAIN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7225"/>
            <a:ext cx="727590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2855"/>
                </a:solidFill>
                <a:latin typeface="Plus Jakarta Sans"/>
              </a:rPr>
              <a:t>Underwriting Engine &amp; Business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186112"/>
            <a:ext cx="30670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41230"/>
                </a:solidFill>
                <a:latin typeface="Inter"/>
              </a:rPr>
              <a:t>CONDITION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3186112"/>
            <a:ext cx="30670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41230"/>
                </a:solidFill>
                <a:latin typeface="Inter"/>
              </a:rPr>
              <a:t>CONDITION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186112"/>
            <a:ext cx="306705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Inter"/>
              </a:rPr>
              <a:t>CONDITION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462337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High Risk Flood Zone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776662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Triggers automatic route to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PendingReview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status requiring manual Admin evaluation.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462337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Product Manual Override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776662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Specialized commercial flood riders require mandatory underwriting sign-off before quote.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462337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Standard Flood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776662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Sets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CanGenerateQuote = true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for instant automated customer pricing and quote issuance.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53725" y="609600"/>
            <a:ext cx="828675" cy="2762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50815"/>
            <a:ext cx="5353050" cy="1842045"/>
          </a:xfrm>
          <a:prstGeom prst="roundRect">
            <a:avLst>
              <a:gd name="adj" fmla="val 6205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9350" y="2950815"/>
            <a:ext cx="5353050" cy="1842045"/>
          </a:xfrm>
          <a:prstGeom prst="roundRect">
            <a:avLst>
              <a:gd name="adj" fmla="val 6205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79427"/>
            <a:ext cx="180975" cy="209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675" y="3279427"/>
            <a:ext cx="266700" cy="209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06125" y="666750"/>
            <a:ext cx="6191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7798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41230"/>
                </a:solidFill>
                <a:latin typeface="Inter"/>
              </a:rPr>
              <a:t>DATA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7225"/>
            <a:ext cx="818852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2855"/>
                </a:solidFill>
                <a:latin typeface="Plus Jakarta Sans"/>
              </a:rPr>
              <a:t>Data Ownership &amp; Identity Linking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55665"/>
            <a:ext cx="48196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Strict bounded contexts prevent direct cross-database queries. Service data is accessible exclusively through published REST API endpoints.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3655665"/>
            <a:ext cx="48196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Prevents dangling records by validating CustomerId via inter-service HTTP calls before binding new properties, quotes, or claims.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3265140"/>
            <a:ext cx="393799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Database-per-Service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4675" y="3265140"/>
            <a:ext cx="36754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API-Mediated Identity Linking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82300" y="609600"/>
            <a:ext cx="800100" cy="27622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67025"/>
            <a:ext cx="3505200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867025"/>
            <a:ext cx="3505200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867025"/>
            <a:ext cx="3505200" cy="2009775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4325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143250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43250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34700" y="666750"/>
            <a:ext cx="590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8393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41230"/>
                </a:solidFill>
                <a:latin typeface="Inter"/>
              </a:rPr>
              <a:t>PLATFORM RESILIENCY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7225"/>
            <a:ext cx="881360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2855"/>
                </a:solidFill>
                <a:latin typeface="Plus Jakarta Sans"/>
              </a:rPr>
              <a:t>Security Architecture &amp; Global Error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48615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JWT &amp; Policy Guards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800475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Stateless authorization with Angular route guards enforcing Customer, Admin, and ClaimManager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48615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Global Exception Middleware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800475"/>
            <a:ext cx="3048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Centralized middleware mapping custom exceptions (Validation, NotFound, Conflict, Forbidden) to standard HTTP status codes.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486150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Serilog Audit Trails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800475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Structured JSON logging capturing state transitions, policy overrides, and claim payout audit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810875" y="609600"/>
            <a:ext cx="771525" cy="27622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67025"/>
            <a:ext cx="3505200" cy="2009775"/>
          </a:xfrm>
          <a:prstGeom prst="roundRect">
            <a:avLst>
              <a:gd name="adj" fmla="val 5687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867025"/>
            <a:ext cx="3505200" cy="2009775"/>
          </a:xfrm>
          <a:prstGeom prst="roundRect">
            <a:avLst>
              <a:gd name="adj" fmla="val 5687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867025"/>
            <a:ext cx="3505200" cy="2009775"/>
          </a:xfrm>
          <a:prstGeom prst="roundRect">
            <a:avLst>
              <a:gd name="adj" fmla="val 5687"/>
            </a:avLst>
          </a:prstGeom>
          <a:solidFill>
            <a:srgbClr val="F4F6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43250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143250"/>
            <a:ext cx="2571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43250"/>
            <a:ext cx="2857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63275" y="666750"/>
            <a:ext cx="5619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Slide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6572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41230"/>
                </a:solidFill>
                <a:latin typeface="Inter"/>
              </a:rPr>
              <a:t>ENGINEERING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7225"/>
            <a:ext cx="690086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2855"/>
                </a:solidFill>
                <a:latin typeface="Plus Jakarta Sans"/>
              </a:rPr>
              <a:t>Innovation &amp; Engineering Highlights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48615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Angular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800475"/>
            <a:ext cx="3048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Fine-grained reactive state handling with zero memory leaks and optimized UI updates across portals.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48615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Clean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800475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Strict isolation of Domain, Application, Infrastructure, and API layers across all microservices.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486150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02855"/>
                </a:solidFill>
                <a:latin typeface="Plus Jakarta Sans"/>
              </a:rPr>
              <a:t>API-Mediated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800475"/>
            <a:ext cx="3048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Decoupled microservice collaboration via REST contracts without shared database dependencies.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82300" y="609600"/>
            <a:ext cx="800100" cy="27622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74565"/>
            <a:ext cx="5334000" cy="2794545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474565"/>
            <a:ext cx="5334000" cy="2794545"/>
          </a:xfrm>
          <a:prstGeom prst="roundRect">
            <a:avLst>
              <a:gd name="adj" fmla="val 40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2025" y="4526160"/>
            <a:ext cx="4629150" cy="390525"/>
          </a:xfrm>
          <a:prstGeom prst="roundRect">
            <a:avLst>
              <a:gd name="adj" fmla="val 1951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00825" y="4526160"/>
            <a:ext cx="4629150" cy="390525"/>
          </a:xfrm>
          <a:prstGeom prst="roundRect">
            <a:avLst>
              <a:gd name="adj" fmla="val 1951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4645223"/>
            <a:ext cx="1143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25" y="4645223"/>
            <a:ext cx="1714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826990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2826990"/>
            <a:ext cx="533400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2979390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7512" y="2979390"/>
            <a:ext cx="20002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34700" y="666750"/>
            <a:ext cx="590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2855"/>
                </a:solidFill>
                <a:latin typeface="Inter"/>
              </a:rPr>
              <a:t>Slide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67270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41230"/>
                </a:solidFill>
                <a:latin typeface="Inter"/>
              </a:rPr>
              <a:t>ACKNOWLEDGEMENTS &amp; LEADERSHIP 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57225"/>
            <a:ext cx="706338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02855"/>
                </a:solidFill>
                <a:latin typeface="Plus Jakarta Sans"/>
              </a:rPr>
              <a:t>Gratitude &amp; Mentorship 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550890"/>
            <a:ext cx="47244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Sincere gratitude for foundational technical instruction, architectural rigor, and steady encouragement throughout the platform engineering phase.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4925" y="4640460"/>
            <a:ext cx="2405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2855"/>
                </a:solidFill>
                <a:latin typeface="Inter"/>
              </a:rPr>
              <a:t>Technical &amp; Academic Mentor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825" y="3550890"/>
            <a:ext cx="47244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Heartfelt thanks for invaluable enterprise mentorship, insurance domain insights, and structural leadership in designing production-grade microservices.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0875" y="4640460"/>
            <a:ext cx="2274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02855"/>
                </a:solidFill>
                <a:latin typeface="Inter"/>
              </a:rPr>
              <a:t>Hartford Enterprise Advisor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7825" y="2855565"/>
            <a:ext cx="18859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41230"/>
                </a:solidFill>
                <a:latin typeface="Inter"/>
              </a:rPr>
              <a:t>Instructor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6625" y="2855565"/>
            <a:ext cx="25527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41230"/>
                </a:solidFill>
                <a:latin typeface="Inter"/>
              </a:rPr>
              <a:t>The Hartford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7825" y="3065115"/>
            <a:ext cx="235029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02855"/>
                </a:solidFill>
                <a:latin typeface="Plus Jakarta Sans"/>
              </a:rPr>
              <a:t>Ranjan Bhatnagar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6625" y="3065115"/>
            <a:ext cx="322540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02855"/>
                </a:solidFill>
                <a:latin typeface="Plus Jakarta Sans"/>
              </a:rPr>
              <a:t>Sanjeeva Reddy Alamuri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495800" y="4424362"/>
            <a:ext cx="3200400" cy="514350"/>
          </a:xfrm>
          <a:prstGeom prst="roundRect">
            <a:avLst>
              <a:gd name="adj" fmla="val 50000"/>
            </a:avLst>
          </a:prstGeom>
          <a:solidFill>
            <a:srgbClr val="1A3E66"/>
          </a:solidFill>
          <a:ln w="9525">
            <a:solidFill>
              <a:srgbClr val="3353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19287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090737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08314" y="2757487"/>
            <a:ext cx="297537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3490912"/>
            <a:ext cx="857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Flood Insurance Management System (FIMS) — Technical Defense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8650" y="4576762"/>
            <a:ext cx="3314700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Questions &amp; Technical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