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Space Grotesk"/>
      <ns0:bold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a839781b-e807-48ff-a976-1a475459941c.fntdata" /><ns0:Relationship Id="rIdFont22" Type="http://schemas.openxmlformats.org/officeDocument/2006/relationships/font" Target="fonts/6ac0acda-87e6-407e-bea3-481c441154ba.fntdata" /><ns0:Relationship Id="rIdFont23" Type="http://schemas.openxmlformats.org/officeDocument/2006/relationships/font" Target="fonts/5a34a4bd-03b6-47c3-9fc3-8afd02514b84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6029325"/>
            <a:ext cx="11125200" cy="409575"/>
          </a:xfrm>
          <a:prstGeom prst="roundRect">
            <a:avLst>
              <a:gd name="adj" fmla="val 23255"/>
            </a:avLst>
          </a:prstGeom>
          <a:solidFill>
            <a:srgbClr val="0E1B31"/>
          </a:solidFill>
          <a:ln w="9525">
            <a:solidFill>
              <a:srgbClr val="20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05650" y="2281237"/>
            <a:ext cx="4552950" cy="2228850"/>
          </a:xfrm>
          <a:prstGeom prst="roundRect">
            <a:avLst>
              <a:gd name="adj" fmla="val 6837"/>
            </a:avLst>
          </a:prstGeom>
          <a:solidFill>
            <a:srgbClr val="192D46"/>
          </a:solidFill>
          <a:ln w="9525">
            <a:solidFill>
              <a:srgbClr val="2A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4351883"/>
            <a:ext cx="76200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910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953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775" y="2519362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775" y="3195637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3775" y="3871912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8075" y="26241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3300412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737" y="3976687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3425" y="6153150"/>
            <a:ext cx="2869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Domain: Flood Insurance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6153150"/>
            <a:ext cx="3607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Architecture: RESTful Microservices &amp; Angular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90537"/>
            <a:ext cx="41255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Space Grotesk"/>
              </a:rPr>
              <a:t>ENTERPRISE INSURANCE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401341"/>
            <a:ext cx="7643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Space Grotesk"/>
              </a:rPr>
              <a:t>MICROSERVICES-BASED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734716"/>
            <a:ext cx="6520815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FFFFF"/>
                </a:solidFill>
                <a:latin typeface="Inter"/>
              </a:rPr>
              <a:t>FLOOD INSURANCE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94683"/>
            <a:ext cx="76438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 Microservices-Based Insurance Management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6225" y="2538412"/>
            <a:ext cx="152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DEVELOPER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6225" y="2700337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Nanda Kishore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6225" y="3214687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INSTRUCTOR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6225" y="3376612"/>
            <a:ext cx="180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Ranjan Bhatnagar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6225" y="3890962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HARTFORD MENTOR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6225" y="4052887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Sanjeeva Reddy Alamuri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48781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248781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48781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391656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2649" y="391656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916560"/>
            <a:ext cx="3606849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248781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487810"/>
            <a:ext cx="38100" cy="1276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0724" y="248781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2649" y="248781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649" y="2487810"/>
            <a:ext cx="38100" cy="1276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9974" y="248781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248781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899" y="2487810"/>
            <a:ext cx="38100" cy="1276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9223" y="248781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51833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400" y="391656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3400" y="3916560"/>
            <a:ext cx="38100" cy="1276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0724" y="391656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649" y="51833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2649" y="391656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2649" y="3916560"/>
            <a:ext cx="38100" cy="1276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89974" y="391656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1899" y="51833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1899" y="3916560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1899" y="3916560"/>
            <a:ext cx="38100" cy="1276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49223" y="3916560"/>
            <a:ext cx="9525" cy="127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92598"/>
            <a:ext cx="2190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9" y="2692598"/>
            <a:ext cx="2190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2692598"/>
            <a:ext cx="1428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21348"/>
            <a:ext cx="23812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249" y="4121348"/>
            <a:ext cx="23812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99" y="4121348"/>
            <a:ext cx="1905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PROJECT CONTEXT &amp; DOMAIN CHALLENGES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The Business Problem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2964060"/>
            <a:ext cx="3273474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Multi-stage insurance operations across customer, policy, and claim workflows.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1249" y="2964060"/>
            <a:ext cx="32734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Validation required across customer, property, policy, and claim boundaries.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0499" y="2964060"/>
            <a:ext cx="32734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Controlled business rules needed to assess flood risks and trigger reviews.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4392810"/>
            <a:ext cx="3273474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Strict operational segregation for Customers, Admins, and Claim Managers.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1249" y="4392810"/>
            <a:ext cx="32734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Controlled API access for multiple backend business capabilities.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0499" y="4392810"/>
            <a:ext cx="327347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Centralized exception handling and structured logging across services.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375" y="2687835"/>
            <a:ext cx="2400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Fragmented Lifecycle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4624" y="2687835"/>
            <a:ext cx="22877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Identity &amp; Ownership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7674" y="2687835"/>
            <a:ext cx="213776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Risk &amp; Underwriting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4425" y="4116585"/>
            <a:ext cx="25253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Role-Based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73674" y="4116585"/>
            <a:ext cx="246280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Cross-Service Access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85299" y="4116585"/>
            <a:ext cx="2800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Consistent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197298"/>
            <a:ext cx="11125200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4016573"/>
            <a:ext cx="5467350" cy="1466850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4016573"/>
            <a:ext cx="5467350" cy="1466850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1525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2346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33167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63988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4809" y="2825948"/>
            <a:ext cx="13335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66434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97255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28076" y="2825948"/>
            <a:ext cx="1092696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421" y="3102173"/>
            <a:ext cx="8572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242" y="3102173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063" y="3102173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884" y="3102173"/>
            <a:ext cx="857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509" y="3102173"/>
            <a:ext cx="857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5330" y="3102173"/>
            <a:ext cx="857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151" y="3102173"/>
            <a:ext cx="8572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673" y="2959298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444" y="2959298"/>
            <a:ext cx="1905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840" y="2959298"/>
            <a:ext cx="1333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4611" y="2959298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021" y="2959298"/>
            <a:ext cx="219075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1819" y="2959298"/>
            <a:ext cx="16192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8353" y="2959298"/>
            <a:ext cx="1905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9174" y="2959298"/>
            <a:ext cx="1905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4230885"/>
            <a:ext cx="1905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4230885"/>
            <a:ext cx="17145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ENTERPRISE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The Proposed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279796" y="2435423"/>
            <a:ext cx="12751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UNIFIED DOMAIN-DRIVEN INSURANCE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175" y="4216598"/>
            <a:ext cx="635079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Core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7975" y="4216598"/>
            <a:ext cx="55340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Security &amp; 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3296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Property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4117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Product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4938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5759" y="3187898"/>
            <a:ext cx="1371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Underwriting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7384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Quote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8205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9026" y="3187898"/>
            <a:ext cx="11307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Claim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425" y="4530923"/>
            <a:ext cx="633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Angular Frontend: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Standalone components &amp; Signals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25" y="4807148"/>
            <a:ext cx="633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Ocelot API Gateway: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Unified routing &amp;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425" y="5083373"/>
            <a:ext cx="633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Decoupled Backend: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Domain-centric microservices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275" y="4530923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JWT Security: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Token identity &amp; role authorization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275" y="4807148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Clean Architecture: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Domain entity encapsulation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275" y="5083373"/>
            <a:ext cx="5800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Serilog &amp; Exception: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Centralized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116710"/>
            <a:ext cx="11125200" cy="523875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040135"/>
            <a:ext cx="3581400" cy="2886075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05300" y="2040135"/>
            <a:ext cx="3581400" cy="2886075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040135"/>
            <a:ext cx="3581400" cy="2886075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491668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2040135"/>
            <a:ext cx="35814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05275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5300" y="491668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5300" y="2040135"/>
            <a:ext cx="3581400" cy="476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5300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77175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7200" y="4916685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040135"/>
            <a:ext cx="3581400" cy="4762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075" y="2040135"/>
            <a:ext cx="9525" cy="2886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16360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316360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316360"/>
            <a:ext cx="25717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USER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Functional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333375" y="5269110"/>
            <a:ext cx="12858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ONE PLATFORM — ROLE-SPECIFIC CAPABILITIES &amp; GRANULAR PERMISSIONS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1575" y="2316360"/>
            <a:ext cx="14401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26592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Registration &amp; Login: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JWT 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31164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Property Management: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Add/view properties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35736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Risk &amp; Products: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Browse flood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40308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Quotes &amp; Policies: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Accept/reject quotes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4488060"/>
            <a:ext cx="3881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Create/view/cancel 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3475" y="2316360"/>
            <a:ext cx="9901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425" y="26592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User Management: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System user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425" y="31164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Policy Management: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Search &amp; manage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3573660"/>
            <a:ext cx="3881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Policy Issuance: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Approve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3425" y="3830835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Underwriting Review: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Manual review decisions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3425" y="4288035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Claims Oversight: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Administrative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316360"/>
            <a:ext cx="21752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CLAIM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325" y="2659260"/>
            <a:ext cx="3200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Assigned Claims: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Review assigned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5325" y="3116460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 Review: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Start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5325" y="3373635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Approval/Rejection: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Status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5325" y="3630810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Settlements: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Process settlements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5325" y="3887985"/>
            <a:ext cx="3876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Operations: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Manage claim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573410"/>
            <a:ext cx="11125200" cy="3952875"/>
          </a:xfrm>
          <a:prstGeom prst="roundRect">
            <a:avLst>
              <a:gd name="adj" fmla="val 28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678685"/>
            <a:ext cx="11125200" cy="428625"/>
          </a:xfrm>
          <a:prstGeom prst="roundRect">
            <a:avLst>
              <a:gd name="adj" fmla="val 888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6275" y="1811535"/>
            <a:ext cx="3219450" cy="619125"/>
          </a:xfrm>
          <a:prstGeom prst="roundRect">
            <a:avLst>
              <a:gd name="adj" fmla="val 123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5678685"/>
            <a:ext cx="38100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6275" y="2402085"/>
            <a:ext cx="32194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36390" y="2983110"/>
            <a:ext cx="4069109" cy="704850"/>
          </a:xfrm>
          <a:prstGeom prst="roundRect">
            <a:avLst>
              <a:gd name="adj" fmla="val 13513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983110"/>
            <a:ext cx="4069109" cy="704850"/>
          </a:xfrm>
          <a:prstGeom prst="roundRect">
            <a:avLst>
              <a:gd name="adj" fmla="val 13513"/>
            </a:avLst>
          </a:prstGeom>
          <a:solidFill>
            <a:srgbClr val="EFF6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1525" y="4240410"/>
            <a:ext cx="3422600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4625" y="4240410"/>
            <a:ext cx="3422600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97725" y="4240410"/>
            <a:ext cx="3422600" cy="104775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2621160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3878460"/>
            <a:ext cx="1333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00" y="4430910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88" y="4430910"/>
            <a:ext cx="1619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889" y="4430910"/>
            <a:ext cx="2381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High-Level Microservices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9298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Architectural Boundary: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Each service owns a coherent business capability and its authoritative data persistence boundary.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2468" y="1925835"/>
            <a:ext cx="316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Customer / Client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2468" y="2125860"/>
            <a:ext cx="316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Angular Frontend (Standalone + Signals)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2064" y="3154560"/>
            <a:ext cx="46577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66534"/>
                </a:solidFill>
                <a:latin typeface="Inter"/>
              </a:rPr>
              <a:t>Auth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2064" y="3354585"/>
            <a:ext cx="46577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5803D"/>
                </a:solidFill>
                <a:latin typeface="Inter"/>
              </a:rPr>
              <a:t>Register / Login / JWT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2173" y="3154560"/>
            <a:ext cx="46577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40AF"/>
                </a:solidFill>
                <a:latin typeface="Inter"/>
              </a:rPr>
              <a:t>Ocelot API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2173" y="3354585"/>
            <a:ext cx="46577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D4ED8"/>
                </a:solidFill>
                <a:latin typeface="Inter"/>
              </a:rPr>
              <a:t>Routing + Security Policies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824" y="4697610"/>
            <a:ext cx="380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Customer &amp; Property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824" y="4935735"/>
            <a:ext cx="3802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Profiles &amp; Property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4925" y="4697610"/>
            <a:ext cx="380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Policy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4925" y="4935735"/>
            <a:ext cx="3802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Risk, Underwriting, Quotes &amp;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025" y="4697610"/>
            <a:ext cx="380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Claim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025" y="4935735"/>
            <a:ext cx="3802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Claims Lifecycle &amp; Settlement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454848"/>
            <a:ext cx="11125200" cy="485775"/>
          </a:xfrm>
          <a:prstGeom prst="roundRect">
            <a:avLst>
              <a:gd name="adj" fmla="val 1568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740098"/>
            <a:ext cx="546735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740098"/>
            <a:ext cx="546735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3597473"/>
            <a:ext cx="546735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597473"/>
            <a:ext cx="546735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3397448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740098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1740098"/>
            <a:ext cx="38100" cy="16668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1225" y="1740098"/>
            <a:ext cx="9525" cy="1666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1250" y="3397448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250" y="1740098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0" y="1740098"/>
            <a:ext cx="38100" cy="1666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9075" y="1740098"/>
            <a:ext cx="9525" cy="1666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" y="5254823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3597473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3597473"/>
            <a:ext cx="38100" cy="16668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1225" y="3597473"/>
            <a:ext cx="9525" cy="1666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1250" y="5254823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0" y="3597473"/>
            <a:ext cx="5467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0" y="3597473"/>
            <a:ext cx="38100" cy="16668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49075" y="3597473"/>
            <a:ext cx="9525" cy="1666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MICROSERVICE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Service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303609" y="5597723"/>
            <a:ext cx="12799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369A1"/>
                </a:solidFill>
                <a:latin typeface="Inter"/>
              </a:rPr>
              <a:t>"Each service owns a coherent business capability and its authoritative data."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1940123"/>
            <a:ext cx="66133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AUTH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850" y="1940123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CUSTOMER &amp; PROPERTY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3797498"/>
            <a:ext cx="66133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POLICY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3797498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4. CLAIM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2235398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Registration: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Account creation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2492573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Login: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Credentials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2749748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JWT Issuance: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Security token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3006923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Identity Handling: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User credentials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850" y="2235398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Customer Profile: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Identity metadata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850" y="2492573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Customer Validation: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Identity checking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850" y="2749748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Property Mgmt: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Property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850" y="3006923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Customer Ownership: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092773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Insurance Products: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Product catalog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4349948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Risk Assessments: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Risk 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4607123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Underwriting: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Manual &amp; rule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4864298"/>
            <a:ext cx="629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Quotes &amp; Policies: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Policy lifecycle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850" y="4092773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 Creation: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Customer initiation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850" y="4349948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 Review: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Manager assignment &amp;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850" y="4607123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Settlements: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Approval or rejection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850" y="4864298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Cancellation: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Customer policy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544960"/>
            <a:ext cx="111252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1525" y="2883098"/>
            <a:ext cx="1504950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00325" y="2783085"/>
            <a:ext cx="1504950" cy="6096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29125" y="2883098"/>
            <a:ext cx="1504950" cy="409575"/>
          </a:xfrm>
          <a:prstGeom prst="roundRect">
            <a:avLst>
              <a:gd name="adj" fmla="val 18604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7925" y="2783085"/>
            <a:ext cx="1504950" cy="6096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6725" y="2783085"/>
            <a:ext cx="150495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15525" y="2883098"/>
            <a:ext cx="1504950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3859410"/>
            <a:ext cx="3581400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5300" y="3859410"/>
            <a:ext cx="3581400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200" y="3859410"/>
            <a:ext cx="3581400" cy="1276350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301168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5" y="3011685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301168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3011685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25" y="301168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073723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4073723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225" y="4073723"/>
            <a:ext cx="21907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REQUEST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API Gateway &amp; Request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2987873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Angular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3175" y="2887860"/>
            <a:ext cx="161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D4ED8"/>
                </a:solidFill>
                <a:latin typeface="Inter"/>
              </a:rPr>
              <a:t>Ocelot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1975" y="2987873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5803D"/>
                </a:solidFill>
                <a:latin typeface="Inter"/>
              </a:rPr>
              <a:t>JWT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775" y="2887860"/>
            <a:ext cx="161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2410C"/>
                </a:solidFill>
                <a:latin typeface="Inter"/>
              </a:rPr>
              <a:t>Target Microservice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9575" y="2887860"/>
            <a:ext cx="161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Controller / App / Domain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8375" y="2987873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Service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" y="4059435"/>
            <a:ext cx="3915489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Routing &amp; Entry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4335660"/>
            <a:ext cx="3276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Ocelot API Gateway serves as the unified entry point, handling request routing to internal services.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2975" y="4059435"/>
            <a:ext cx="3915489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Security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5325" y="4335660"/>
            <a:ext cx="3276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JWT bearer token validation enforces user identity and role policies prior to service dispatch.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500" y="4059435"/>
            <a:ext cx="36195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API-Mediated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7225" y="4335660"/>
            <a:ext cx="3276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Cross-service data access occurs via secure API contracts without direct database linking.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404270"/>
            <a:ext cx="11125200" cy="2295525"/>
          </a:xfrm>
          <a:prstGeom prst="roundRect">
            <a:avLst>
              <a:gd name="adj" fmla="val 497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241970"/>
            <a:ext cx="11125200" cy="1390650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785020"/>
            <a:ext cx="11125200" cy="1390650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456283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999333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04244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5677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671095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85420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299745"/>
            <a:ext cx="1714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ENTERPRISE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Security &amp; Identity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632870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CORE SECURITY 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1441995"/>
            <a:ext cx="111918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JWT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985045"/>
            <a:ext cx="111442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Role-Based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1718220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Stateless Execution: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Token transmitted in Authorization headers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1975395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Token Issuance: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Auth Gateway verifies credentials on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2232570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Protected Resources: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Backend validates signature &amp; expiration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3261270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CUSTOMER: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Restricted to owned properties, quotes &amp;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3518445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ADMIN: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System administration, underwriting review,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3775620"/>
            <a:ext cx="1145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CLAIM MANAGER: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Claim assignment, reviews &amp; settlements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" y="5013870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Authentication enforced prior to protected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5328195"/>
            <a:ext cx="597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ASP.NET Core Authorization Policies for fine-grained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5642520"/>
            <a:ext cx="7346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Customer ownership validation prevents unauthorized resource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5956845"/>
            <a:ext cx="581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Cross-service identity checks maintain backend integrity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" y="6271170"/>
            <a:ext cx="664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"/>
              </a:rPr>
              <a:t>Zero direct database sharing preserves microservice boundaries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502098"/>
            <a:ext cx="111252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816548"/>
            <a:ext cx="546735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816548"/>
            <a:ext cx="5467350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3425" y="3064073"/>
            <a:ext cx="1085850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52650" y="3064073"/>
            <a:ext cx="1000125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86150" y="3064073"/>
            <a:ext cx="933450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2975" y="3064073"/>
            <a:ext cx="1695450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81800" y="3054548"/>
            <a:ext cx="1371600" cy="371475"/>
          </a:xfrm>
          <a:prstGeom prst="roundRect">
            <a:avLst>
              <a:gd name="adj" fmla="val 15384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86775" y="3064073"/>
            <a:ext cx="781050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3064073"/>
            <a:ext cx="790575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25150" y="3064073"/>
            <a:ext cx="733425" cy="352425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425" y="4330898"/>
            <a:ext cx="2457450" cy="647700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3275" y="4330898"/>
            <a:ext cx="2457450" cy="647700"/>
          </a:xfrm>
          <a:prstGeom prst="roundRect">
            <a:avLst>
              <a:gd name="adj" fmla="val 11764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1275" y="4330898"/>
            <a:ext cx="2457450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1125" y="4330898"/>
            <a:ext cx="2457450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3164085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3164085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612" y="316408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437" y="3164085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2" y="316408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837" y="3164085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787" y="3164085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BUSINESS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End-to-End Insurance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303609" y="2702123"/>
            <a:ext cx="12799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PRIMARY CUSTOMER &amp; POLICY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75" y="3140273"/>
            <a:ext cx="914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Customer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140273"/>
            <a:ext cx="828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Property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9500" y="3140273"/>
            <a:ext cx="762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6325" y="3140273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Risk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5150" y="3130748"/>
            <a:ext cx="12001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Inter"/>
              </a:rPr>
              <a:t>Underwriting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0125" y="3140273"/>
            <a:ext cx="609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4550" y="3140273"/>
            <a:ext cx="619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3140273"/>
            <a:ext cx="561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Claim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58340" y="4016573"/>
            <a:ext cx="66508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Underwriting Decision 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7856" y="4016573"/>
            <a:ext cx="64341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Claim Settlement Branch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025" y="4454723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5803D"/>
                </a:solidFill>
                <a:latin typeface="Inter"/>
              </a:rPr>
              <a:t>Eligible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025" y="4692848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166534"/>
                </a:solidFill>
                <a:latin typeface="Inter"/>
              </a:rPr>
              <a:t>Direct Quote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0875" y="4454723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C2410C"/>
                </a:solidFill>
                <a:latin typeface="Inter"/>
              </a:rPr>
              <a:t>Manual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90875" y="4692848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A3412"/>
                </a:solidFill>
                <a:latin typeface="Inter"/>
              </a:rPr>
              <a:t>Admin Review &amp;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8875" y="4454723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Review &amp; Approve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8875" y="4692848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Manager Settlement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8725" y="4454723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Cancellation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8725" y="4692848"/>
            <a:ext cx="276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Customer Supported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241970"/>
            <a:ext cx="11125200" cy="3067050"/>
          </a:xfrm>
          <a:prstGeom prst="roundRect">
            <a:avLst>
              <a:gd name="adj" fmla="val 31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1525" y="1784895"/>
            <a:ext cx="10648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37620"/>
            <a:ext cx="11125200" cy="1298971"/>
          </a:xfrm>
          <a:prstGeom prst="roundRect">
            <a:avLst>
              <a:gd name="adj" fmla="val 73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5988992"/>
            <a:ext cx="11125200" cy="704850"/>
          </a:xfrm>
          <a:prstGeom prst="roundRect">
            <a:avLst>
              <a:gd name="adj" fmla="val 1351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1525" y="1956345"/>
            <a:ext cx="10648950" cy="628650"/>
          </a:xfrm>
          <a:prstGeom prst="roundRect">
            <a:avLst>
              <a:gd name="adj" fmla="val 606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1525" y="2699295"/>
            <a:ext cx="10648950" cy="628650"/>
          </a:xfrm>
          <a:prstGeom prst="roundRect">
            <a:avLst>
              <a:gd name="adj" fmla="val 606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1525" y="3442245"/>
            <a:ext cx="10648950" cy="628650"/>
          </a:xfrm>
          <a:prstGeom prst="roundRect">
            <a:avLst>
              <a:gd name="adj" fmla="val 606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1525" y="1956345"/>
            <a:ext cx="38100" cy="6286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525" y="2699295"/>
            <a:ext cx="38100" cy="6286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1525" y="3442245"/>
            <a:ext cx="38100" cy="6286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DOMAIN RULES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Business Rules in Underwriting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1480095"/>
            <a:ext cx="1128141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Trigger Conditions for Manual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775745"/>
            <a:ext cx="1142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Automated Quote Eligibility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118645"/>
            <a:ext cx="1074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If none of the manual review triggers are met, the underwriting case automatically transitions to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EligibleForQuote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, allowing immediate quote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87" y="6217592"/>
            <a:ext cx="10715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Space Grotesk"/>
              </a:rPr>
              <a:t>"Business rules are strictly enforced by the backend domain model, not by client-side logic."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070645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Inter"/>
              </a:rPr>
              <a:t>Pending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2270670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Unverified property attributes force manual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813595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Inter"/>
              </a:rPr>
              <a:t>Product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013620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Products explicitly flagged for manual approval.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3556545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Inter"/>
              </a:rPr>
              <a:t>Elevated 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3756570"/>
            <a:ext cx="11229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High flood risk classification requires human signoff.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4002285"/>
            <a:ext cx="1112520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078610"/>
            <a:ext cx="11125200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135385"/>
            <a:ext cx="26670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2800" y="2135385"/>
            <a:ext cx="26670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135385"/>
            <a:ext cx="26670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91600" y="2135385"/>
            <a:ext cx="2667000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SERVICE AUTONOMY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Data Ownership &amp;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297656" y="4211835"/>
            <a:ext cx="12787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CROSS-SERVICE REFERENCES ≠ SHARED DATABASE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97656" y="4478535"/>
            <a:ext cx="12787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Services communicate via REST APIs when foreign data requires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09562" y="5211960"/>
            <a:ext cx="1281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"API-mediated references preserve service autonomy and eliminate database-level coupling."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231636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Inter"/>
              </a:rPr>
              <a:t>AUTH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259258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Owns: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3775" y="231636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Inter"/>
              </a:rPr>
              <a:t>CUSTOMER &amp; 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3775" y="259258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Owns: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316360"/>
            <a:ext cx="30253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2410C"/>
                </a:solidFill>
                <a:latin typeface="Inter"/>
              </a:rPr>
              <a:t>POLICY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259258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Owns: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2316360"/>
            <a:ext cx="3019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47857"/>
                </a:solidFill>
                <a:latin typeface="Inter"/>
              </a:rPr>
              <a:t>CLAIM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259258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Owns: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2830710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Identity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303073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Role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3775" y="2830710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Customer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775" y="303073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Property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3175" y="2830710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Insurance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3175" y="303073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Risk Assessments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3175" y="3230760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Underwriting &amp; Quotes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3175" y="343078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2575" y="2830710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2575" y="3030735"/>
            <a:ext cx="288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Claim Reviews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330648"/>
            <a:ext cx="3606849" cy="155257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2330648"/>
            <a:ext cx="3606849" cy="155257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330648"/>
            <a:ext cx="3606849" cy="155257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4035623"/>
            <a:ext cx="3606849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2649" y="4035623"/>
            <a:ext cx="3606849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4035623"/>
            <a:ext cx="3606849" cy="131445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IMPLEMENTATION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Complete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2511623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3624" y="2511623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2874" y="2511623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216598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Inter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3624" y="4216598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Inter"/>
              </a:rPr>
              <a:t>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874" y="4216598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Inter"/>
              </a:rPr>
              <a:t>ERROR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278784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Angular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02597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Standalone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326409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Angular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350222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Reactive Forms &amp; 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3624" y="278784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ASP.NET Core / .NET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3624" y="302597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RESTful Web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3624" y="326409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Clean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3624" y="350222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Repository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874" y="2787848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Ocelot API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2874" y="3025973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Route 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874" y="3264098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Central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75" y="449282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JWT Bearer 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473094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Authorization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496907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Role-Based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3624" y="449282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Serilog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3624" y="4730948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Structured Event Logging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3624" y="4969073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Audit Tracing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874" y="4492823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Exception Middleware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2874" y="4730948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Consistent HTTP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2874" y="4969073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 OpenAPI / Swagger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71641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271641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1641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391656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2649" y="391656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916560"/>
            <a:ext cx="3606849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2716410"/>
            <a:ext cx="36068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0724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2649" y="2716410"/>
            <a:ext cx="36068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649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9974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375463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2716410"/>
            <a:ext cx="360684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899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49223" y="271641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49547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3400" y="3916560"/>
            <a:ext cx="3606849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3400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0724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649" y="49547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2649" y="3916560"/>
            <a:ext cx="3606849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2649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89974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1899" y="495478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51899" y="3916560"/>
            <a:ext cx="3606849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1899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49223" y="3916560"/>
            <a:ext cx="9525" cy="1047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ARCHITECTURAL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Inter"/>
              </a:rPr>
              <a:t>Engineering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375" y="2925960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Domain-Aligned Services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" y="3183135"/>
            <a:ext cx="3340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Separates business capabilities into clear microservices.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3624" y="2925960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Secure API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3624" y="3183135"/>
            <a:ext cx="3340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Controlled entry point for backend endpoints.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2874" y="2925960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Identity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2874" y="3183135"/>
            <a:ext cx="3340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Prevents invalid customer identity associations.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375" y="4126110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4. Domain Underwriting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375" y="4383285"/>
            <a:ext cx="4056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Encapsulates flood-risk business 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3624" y="4126110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5. Central Error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3624" y="4383285"/>
            <a:ext cx="3340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Delivers consistent client error responses.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2874" y="4126110"/>
            <a:ext cx="3959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6. Modern Angular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2874" y="4383285"/>
            <a:ext cx="33401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Standalone components, signals and reactive forms.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5753100"/>
            <a:ext cx="11125200" cy="685800"/>
          </a:xfrm>
          <a:prstGeom prst="roundRect">
            <a:avLst>
              <a:gd name="adj" fmla="val 13888"/>
            </a:avLst>
          </a:prstGeom>
          <a:solidFill>
            <a:srgbClr val="0E1B31"/>
          </a:solidFill>
          <a:ln w="9525">
            <a:solidFill>
              <a:srgbClr val="20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0" y="2717452"/>
            <a:ext cx="5715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9750" y="2974627"/>
            <a:ext cx="8572500" cy="1524000"/>
          </a:xfrm>
          <a:prstGeom prst="roundRect">
            <a:avLst>
              <a:gd name="adj" fmla="val 7500"/>
            </a:avLst>
          </a:prstGeom>
          <a:solidFill>
            <a:srgbClr val="192D46"/>
          </a:solidFill>
          <a:ln w="9525">
            <a:solidFill>
              <a:srgbClr val="2A3D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3227040"/>
            <a:ext cx="1333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19100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PROJECT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423862"/>
            <a:ext cx="2895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Flood Insurance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187" y="1845022"/>
            <a:ext cx="10715625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35"/>
              </a:lnSpc>
            </a:pPr>
            <a:r>
              <a:rPr b="1" sz="1950" i="0" u="none">
                <a:solidFill>
                  <a:srgbClr val="FFFFFF"/>
                </a:solidFill>
                <a:latin typeface="Inter"/>
              </a:rPr>
              <a:t>"Engineering a secure, scalable, and domain-aligned digital insurance lifecycle."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3212752"/>
            <a:ext cx="99155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BBF24"/>
                </a:solidFill>
                <a:latin typeface="Inter"/>
              </a:rPr>
              <a:t>Acknowledgements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7875" y="3488977"/>
            <a:ext cx="81915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Special thanks to my Instructor,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Ranjan Bhatnagar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, for guidance and technical direction throughout the project, and to my Mentor,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Sanjeeva Reddy Alamuri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, Hartford Mentor, for valuable industry mentorship, feedback, and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5915025"/>
            <a:ext cx="152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Nanda Kishore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6115050"/>
            <a:ext cx="152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50" y="5915025"/>
            <a:ext cx="180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Ranjan Bhatnagar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2050" y="6115050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Instructor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1175" y="5915025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Sanjeeva Reddy Alamuri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1175" y="6115050"/>
            <a:ext cx="2524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Hartford Mentor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